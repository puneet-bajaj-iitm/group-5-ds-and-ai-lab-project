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6" r:id="rId17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Snake detection precision (%)</c:v>
                </c:pt>
              </c:strCache>
            </c:strRef>
          </c:tx>
          <c:spPr>
            <a:solidFill>
              <a:srgbClr val="0D7A5F"/>
            </a:solidFill>
          </c:spPr>
          <c:dLbls>
            <c:txPr>
              <a:bodyPr/>
              <a:lstStyle/>
              <a:p>
                <a:pPr>
                  <a:defRPr sz="1200" b="1">
                    <a:solidFill>
                      <a:srgbClr val="0F291E"/>
                    </a:solidFill>
                    <a:latin typeface="Inte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YOLO (Naresh 2024)</c:v>
                </c:pt>
                <c:pt idx="1">
                  <c:v>YOLOv8n (Najm 2025)</c:v>
                </c:pt>
                <c:pt idx="2">
                  <c:v>Global ViT (Bolon 2022)</c:v>
                </c:pt>
                <c:pt idx="3">
                  <c:v>Our M5 target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87.0</c:v>
                </c:pt>
                <c:pt idx="1">
                  <c:v>88.0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Species macro-F1 (%)</c:v>
                </c:pt>
              </c:strCache>
            </c:strRef>
          </c:tx>
          <c:spPr>
            <a:solidFill>
              <a:srgbClr val="B45309"/>
            </a:solidFill>
          </c:spPr>
          <c:dLbls>
            <c:txPr>
              <a:bodyPr/>
              <a:lstStyle/>
              <a:p>
                <a:pPr>
                  <a:defRPr sz="1200" b="1">
                    <a:solidFill>
                      <a:srgbClr val="0F291E"/>
                    </a:solidFill>
                    <a:latin typeface="Inte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YOLO (Naresh 2024)</c:v>
                </c:pt>
                <c:pt idx="1">
                  <c:v>YOLOv8n (Najm 2025)</c:v>
                </c:pt>
                <c:pt idx="2">
                  <c:v>Global ViT (Bolon 2022)</c:v>
                </c:pt>
                <c:pt idx="3">
                  <c:v>Our M5 target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2">
                  <c:v>92.2</c:v>
                </c:pt>
                <c:pt idx="3">
                  <c:v>80.0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>
              <a:latin typeface="Inter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6EE7B7"/>
                </a:solidFill>
                <a:latin typeface="Inter"/>
              </a:rPr>
              <a:t>GROUP 5  |  DS &amp; AI LAB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4400" b="1">
                <a:solidFill>
                  <a:srgbClr val="F0FDF4"/>
                </a:solidFill>
                <a:latin typeface="Inter Display"/>
              </a:rPr>
              <a:t>SerpentGuard AI: Snake Detection &amp; Classification</a:t>
            </a:r>
          </a:p>
          <a:p>
            <a:pPr algn="l"/>
            <a:r>
              <a:rPr sz="2000">
                <a:solidFill>
                  <a:srgbClr val="A7F3D0"/>
                </a:solidFill>
                <a:latin typeface="Inter"/>
              </a:rPr>
              <a:t>Live Video Tracking, Calibrated Species ID and Offline Edge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Inter"/>
              </a:rPr>
              <a:t>Team Lead: Jayesh Bansal | Members: Vikas, Puneet Bajaj, Manas Rastogi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1. BACKGROUND &amp; MOTIVATION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Why Snakes? Fine-Grained Field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Why It Matters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Real-World Urgency: </a:t>
            </a:r>
            <a:r>
              <a:rPr sz="1600">
                <a:solidFill>
                  <a:srgbClr val="335446"/>
                </a:solidFill>
                <a:latin typeface="Inter"/>
              </a:rPr>
              <a:t>India had an estimated 46,000 snakebite deaths in 2005 (Million Death Study, cited by WHO 2016); encounters trigger panic and snake killings.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Fine-Grained Vision: </a:t>
            </a:r>
            <a:r>
              <a:rPr sz="1600">
                <a:solidFill>
                  <a:srgbClr val="335446"/>
                </a:solidFill>
                <a:latin typeface="Inter"/>
              </a:rPr>
              <a:t>Look-alike species share patterns; blur, low light, and occlusion break generic models.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Safety First: </a:t>
            </a:r>
            <a:r>
              <a:rPr sz="1600">
                <a:solidFill>
                  <a:srgbClr val="335446"/>
                </a:solidFill>
                <a:latin typeface="Inter"/>
              </a:rPr>
              <a:t>Encourages a safe distance and never replaces a trip to the hospital.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2  |  SerpentGuard AI: Motivation &amp; Fine-Grained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2. SCOPE, STAKEHOLDERS &amp; MEASURABLE TARGETS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What We Build, For Whom, and How We Measure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32486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28676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1. Scope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In Scope: </a:t>
            </a:r>
            <a:r>
              <a:rPr sz="1600">
                <a:solidFill>
                  <a:srgbClr val="335446"/>
                </a:solidFill>
                <a:latin typeface="Inter"/>
              </a:rPr>
              <a:t>27 Indian species incl. the Big Four; photos + live video.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Out of Scope: </a:t>
            </a:r>
            <a:r>
              <a:rPr sz="1600">
                <a:solidFill>
                  <a:srgbClr val="335446"/>
                </a:solidFill>
                <a:latin typeface="Inter"/>
              </a:rPr>
              <a:t>Other species shown as unknown; no bite diagnosis.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32486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28676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2. Stakeholders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Users: </a:t>
            </a:r>
            <a:r>
              <a:rPr sz="1600">
                <a:solidFill>
                  <a:srgbClr val="335446"/>
                </a:solidFill>
                <a:latin typeface="Inter"/>
              </a:rPr>
              <a:t>Households, farmers, campus staff, snake rescuers.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Also: </a:t>
            </a:r>
            <a:r>
              <a:rPr sz="1600">
                <a:solidFill>
                  <a:srgbClr val="335446"/>
                </a:solidFill>
                <a:latin typeface="Inter"/>
              </a:rPr>
              <a:t>Forest dept., clinicians (education only), researchers.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32486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28676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3. Targets (M5)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Accuracy: </a:t>
            </a:r>
            <a:r>
              <a:rPr sz="1600">
                <a:solidFill>
                  <a:srgbClr val="335446"/>
                </a:solidFill>
                <a:latin typeface="Inter"/>
              </a:rPr>
              <a:t>Macro-F1 ≥ 0.80; top-3 ≥ 0.93; detector P and R ≥ 0.90.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Safety &amp; Speed: </a:t>
            </a:r>
            <a:r>
              <a:rPr sz="1600">
                <a:solidFill>
                  <a:srgbClr val="335446"/>
                </a:solidFill>
                <a:latin typeface="Inter"/>
              </a:rPr>
              <a:t>Dangerous-species recall ≥ 0.95; ECE ≤ 0.05; ≥ 10 FPS.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3  |  Targets are proposals until the Milestone 2 split exists; full list in the project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3. COMPARISON WITH EXISTING ALTERNATIVES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How SerpentGuard AI Differs From Cloud Search &amp; Live LLMs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1168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103120"/>
                <a:gridCol w="2103120"/>
                <a:gridCol w="2377440"/>
              </a:tblGrid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0FDF4"/>
                          </a:solidFill>
                          <a:latin typeface="Inter Display"/>
                        </a:rPr>
                        <a:t>Capability</a:t>
                      </a:r>
                    </a:p>
                  </a:txBody>
                  <a:tcPr anchor="ctr" marL="109728" marR="109728" marT="73152" marB="73152">
                    <a:solidFill>
                      <a:srgbClr val="062C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0FDF4"/>
                          </a:solidFill>
                          <a:latin typeface="Inter Display"/>
                        </a:rPr>
                        <a:t>Google Search / Lens</a:t>
                      </a:r>
                    </a:p>
                  </a:txBody>
                  <a:tcPr anchor="ctr" marL="109728" marR="109728" marT="73152" marB="73152">
                    <a:solidFill>
                      <a:srgbClr val="062C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0FDF4"/>
                          </a:solidFill>
                          <a:latin typeface="Inter Display"/>
                        </a:rPr>
                        <a:t>Gemini / ChatGPT Live</a:t>
                      </a:r>
                    </a:p>
                  </a:txBody>
                  <a:tcPr anchor="ctr" marL="109728" marR="109728" marT="73152" marB="73152">
                    <a:solidFill>
                      <a:srgbClr val="062C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0FDF4"/>
                          </a:solidFill>
                          <a:latin typeface="Inter Display"/>
                        </a:rPr>
                        <a:t>Direct Cloud LLMs</a:t>
                      </a:r>
                    </a:p>
                  </a:txBody>
                  <a:tcPr anchor="ctr" marL="109728" marR="109728" marT="73152" marB="73152">
                    <a:solidFill>
                      <a:srgbClr val="062C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0FDF4"/>
                          </a:solidFill>
                          <a:latin typeface="Inter Display"/>
                        </a:rPr>
                        <a:t>SerpentGuard AI (Ours)</a:t>
                      </a:r>
                    </a:p>
                  </a:txBody>
                  <a:tcPr anchor="ctr" marL="109728" marR="109728" marT="73152" marB="73152">
                    <a:solidFill>
                      <a:srgbClr val="0D7A5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Primary Input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Static image upload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Cloud video streaming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Static prompt &amp; image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Real-time local camera feed</a:t>
                      </a:r>
                    </a:p>
                  </a:txBody>
                  <a:tcPr anchor="ctr" marL="109728" marR="109728" marT="73152" marB="73152">
                    <a:solidFill>
                      <a:srgbClr val="E6F4F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Rural Offline Use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Needs internet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Needs a live connection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Needs internet + API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Offline edge model (target)</a:t>
                      </a:r>
                    </a:p>
                  </a:txBody>
                  <a:tcPr anchor="ctr" marL="109728" marR="109728" marT="73152" marB="73152">
                    <a:solidFill>
                      <a:srgbClr val="E6F4F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Fine-Grained Focus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General web matches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Generalist visual prior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Can sound sure when wrong</a:t>
                      </a:r>
                    </a:p>
                  </a:txBody>
                  <a:tcPr anchor="ctr" marL="109728" marR="109728" marT="73152" marB="73152">
                    <a:solidFill>
                      <a:srgbClr val="ED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27 Indian species, fixed list</a:t>
                      </a:r>
                    </a:p>
                  </a:txBody>
                  <a:tcPr anchor="ctr" marL="109728" marR="109728" marT="73152" marB="73152">
                    <a:solidFill>
                      <a:srgbClr val="E6F4F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Safety Abstention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Returns visual matches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No measured abstention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5446"/>
                          </a:solidFill>
                          <a:latin typeface="Inter"/>
                        </a:rPr>
                        <a:t>No calibrated confidence</a:t>
                      </a:r>
                    </a:p>
                  </a:txBody>
                  <a:tcPr anchor="ctr"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291E"/>
                          </a:solidFill>
                          <a:latin typeface="Inter"/>
                        </a:rPr>
                        <a:t>Calibrated abstain + safety KB</a:t>
                      </a:r>
                    </a:p>
                  </a:txBody>
                  <a:tcPr anchor="ctr" marL="109728" marR="109728" marT="73152" marB="73152">
                    <a:solidFill>
                      <a:srgbClr val="E6F4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4  |  Design comparison, not yet measured: matched-image tests are planned for Milestone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4. ACADEMIC LITERATURE &amp; IMPLEMENTATION GAP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Beyond SnakeCLEF &amp; YOLO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What We Do Differently From Papers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SnakeCLEF (2021-2024): </a:t>
            </a:r>
            <a:r>
              <a:rPr sz="1600">
                <a:solidFill>
                  <a:srgbClr val="335446"/>
                </a:solidFill>
                <a:latin typeface="Inter"/>
              </a:rPr>
              <a:t>Strong ViT/CNN models, evaluated on static photos; live on-device video is outside the benchmark.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Prior YOLO Studies (2024-25): </a:t>
            </a:r>
            <a:r>
              <a:rPr sz="1600">
                <a:solidFill>
                  <a:srgbClr val="335446"/>
                </a:solidFill>
                <a:latin typeface="Inter"/>
              </a:rPr>
              <a:t>Report 87-88% detection precision but no calibrated abstention.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Two-Stage Edge Design: </a:t>
            </a:r>
            <a:r>
              <a:rPr sz="1600">
                <a:solidFill>
                  <a:srgbClr val="335446"/>
                </a:solidFill>
                <a:latin typeface="Inter"/>
              </a:rPr>
              <a:t>Couples real-time snake detection with calibrated fine-grained classification, offline.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5  |  Sources: SnakeCLEF 2024; Naresh 2024; Najm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5. SYSTEM ARCHITECTURE &amp; OFFLINE DEPLOYMENT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Live Video, Frame by Frame, Fully Offline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32486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2834640" cy="28676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1. Edge Detector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YOLOv8n (int8): </a:t>
            </a:r>
            <a:r>
              <a:rPr sz="1600">
                <a:solidFill>
                  <a:srgbClr val="335446"/>
                </a:solidFill>
                <a:latin typeface="Inter"/>
              </a:rPr>
              <a:t>Finds snakes in every live video frame.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ByteTrack: </a:t>
            </a:r>
            <a:r>
              <a:rPr sz="1600">
                <a:solidFill>
                  <a:srgbClr val="335446"/>
                </a:solidFill>
                <a:latin typeface="Inter"/>
              </a:rPr>
              <a:t>Keeps one ID per snake across frames.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32486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2240280"/>
            <a:ext cx="2834640" cy="28676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2. Classifier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MobileViT: </a:t>
            </a:r>
            <a:r>
              <a:rPr sz="1600">
                <a:solidFill>
                  <a:srgbClr val="335446"/>
                </a:solidFill>
                <a:latin typeface="Inter"/>
              </a:rPr>
              <a:t>27 Indian species; full fine-tune vs LoRA.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Abstention Gate: </a:t>
            </a:r>
            <a:r>
              <a:rPr sz="1600">
                <a:solidFill>
                  <a:srgbClr val="335446"/>
                </a:solidFill>
                <a:latin typeface="Inter"/>
              </a:rPr>
              <a:t>Calibrated thresholds + voting over recent frames.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32486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240280"/>
            <a:ext cx="2834640" cy="28676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3. Safety KB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No LLM APIs: </a:t>
            </a:r>
            <a:r>
              <a:rPr sz="1600">
                <a:solidFill>
                  <a:srgbClr val="335446"/>
                </a:solidFill>
                <a:latin typeface="Inter"/>
              </a:rPr>
              <a:t>No cloud latency or cost; no generated text.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Local Lookup: </a:t>
            </a:r>
            <a:r>
              <a:rPr sz="1600">
                <a:solidFill>
                  <a:srgbClr val="335446"/>
                </a:solidFill>
                <a:latin typeface="Inter"/>
              </a:rPr>
              <a:t>Species facts + official first-aid text, verbatim.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6  |  The same models run on photos and on every live video frame, with no LLM or cloud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6. APPLICATION UI MOCKUPS (REAL-TIME EDGE EXPERIENCE)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SerpentGuard AI Interface: Live Detection &amp; Abstention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3977639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267712"/>
            <a:ext cx="4608575" cy="34655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Screen A: High-Confidence Detection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Live ROI &amp; Top-3 Match: </a:t>
            </a:r>
            <a:r>
              <a:rPr sz="1600">
                <a:solidFill>
                  <a:srgbClr val="335446"/>
                </a:solidFill>
                <a:latin typeface="Inter"/>
              </a:rPr>
              <a:t>Illustrative: 1. Spectacled Cobra (0.86) | 2. Rat Snake (0.09) | 3. Russell's Viper (0.03).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Visual &amp; Habitat Cues: </a:t>
            </a:r>
            <a:r>
              <a:rPr sz="1600">
                <a:solidFill>
                  <a:srgbClr val="335446"/>
                </a:solidFill>
                <a:latin typeface="Inter"/>
              </a:rPr>
              <a:t>Hood mark &amp; dorsal pattern; facts from offline species KB.</a:t>
            </a:r>
          </a:p>
          <a:p>
            <a:pPr algn="l" marL="237744" indent="-237744">
              <a:spcAft>
                <a:spcPts val="10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Safety Quick Actions: </a:t>
            </a:r>
            <a:r>
              <a:rPr sz="1600">
                <a:solidFill>
                  <a:srgbClr val="335446"/>
                </a:solidFill>
                <a:latin typeface="Inter"/>
              </a:rPr>
              <a:t>[Official First-Aid Steps] and [Call Local Rescuer].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2011680"/>
            <a:ext cx="5120640" cy="3977639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2267712"/>
            <a:ext cx="4608575" cy="346557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B45309"/>
                </a:solidFill>
                <a:latin typeface="Inter Display"/>
              </a:rPr>
              <a:t>Screen B: Uncertain / Abstain Alert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Abstention Triggered: </a:t>
            </a:r>
            <a:r>
              <a:rPr sz="1600">
                <a:solidFill>
                  <a:srgbClr val="335446"/>
                </a:solidFill>
                <a:latin typeface="Inter"/>
              </a:rPr>
              <a:t>Confidence below threshold due to motion blur or foliage occlusion.</a:t>
            </a:r>
          </a:p>
          <a:p>
            <a:pPr algn="l" marL="237744" indent="-237744">
              <a:spcAft>
                <a:spcPts val="14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Look-Alike Caution: </a:t>
            </a:r>
            <a:r>
              <a:rPr sz="1600">
                <a:solidFill>
                  <a:srgbClr val="335446"/>
                </a:solidFill>
                <a:latin typeface="Inter"/>
              </a:rPr>
              <a:t>Ambiguous match between Common Krait and harmless Wolf Snake.</a:t>
            </a:r>
          </a:p>
          <a:p>
            <a:pPr algn="l" marL="237744" indent="-237744">
              <a:spcAft>
                <a:spcPts val="10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Mandatory Safety Guard: </a:t>
            </a:r>
            <a:r>
              <a:rPr sz="1600">
                <a:solidFill>
                  <a:srgbClr val="335446"/>
                </a:solidFill>
                <a:latin typeface="Inter"/>
              </a:rPr>
              <a:t>Do not approach snake: [Keep Safe Distance] and [Emergency Guide].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7  |  UI Mockups (illustrative values): Live Bounding-Box Feed, Calibrated Top-3 &amp; Safe Abstention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ped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446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7. INVESTIGATING MODEL LIMITATIONS &amp; EDGE CASES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Testing Occlusion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6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Evaluation Protocol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Look-Alike Confusion: </a:t>
            </a:r>
            <a:r>
              <a:rPr sz="1600">
                <a:solidFill>
                  <a:srgbClr val="335446"/>
                </a:solidFill>
                <a:latin typeface="Inter"/>
              </a:rPr>
              <a:t>Quantifies confusion matrices between venomous snakes (Krait, Cobra) and mimics.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Degraded Visibility: </a:t>
            </a:r>
            <a:r>
              <a:rPr sz="1600">
                <a:solidFill>
                  <a:srgbClr val="335446"/>
                </a:solidFill>
                <a:latin typeface="Inter"/>
              </a:rPr>
              <a:t>Measures recall drops under motion blur, night light, and synthetic 30-70% occlusion.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Calibration Metrics: </a:t>
            </a:r>
            <a:r>
              <a:rPr sz="1600">
                <a:solidFill>
                  <a:srgbClr val="335446"/>
                </a:solidFill>
                <a:latin typeface="Inter"/>
              </a:rPr>
              <a:t>Evaluates macro-F1, per-species recall, and Expected Calibration Error (ECE).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8  |  Empirical Validation: Occlusion &amp; Calibration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D7A5F"/>
                </a:solidFill>
                <a:latin typeface="Inter"/>
              </a:rPr>
              <a:t>8. ROADMAP &amp; EVALUATION TARGETS</a:t>
            </a:r>
          </a:p>
          <a:p>
            <a:pPr algn="l"/>
            <a:r>
              <a:rPr sz="3200" b="1">
                <a:solidFill>
                  <a:srgbClr val="0F291E"/>
                </a:solidFill>
                <a:latin typeface="Inter Display"/>
              </a:rPr>
              <a:t>Build the Vision Pipeline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84632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0D7A5F"/>
                </a:solidFill>
                <a:latin typeface="Inter Display"/>
              </a:rPr>
              <a:t>Research Contributions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Core Vision First: </a:t>
            </a:r>
            <a:r>
              <a:rPr sz="1600">
                <a:solidFill>
                  <a:srgbClr val="335446"/>
                </a:solidFill>
                <a:latin typeface="Inter"/>
              </a:rPr>
              <a:t>The live frame-by-frame pipeline runs end-to-end on a data subset at Milestone 3.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Measurable Gains: </a:t>
            </a:r>
            <a:r>
              <a:rPr sz="1600">
                <a:solidFill>
                  <a:srgbClr val="335446"/>
                </a:solidFill>
                <a:latin typeface="Inter"/>
              </a:rPr>
              <a:t>Benchmarks LoRA fine-tuning and two-stage cropping against single-stage baselines.</a:t>
            </a:r>
          </a:p>
          <a:p>
            <a:pPr algn="l" marL="237744" indent="-237744">
              <a:spcAft>
                <a:spcPts val="1600"/>
              </a:spcAft>
              <a:buFont typeface="Arial"/>
              <a:buChar char="•"/>
            </a:pPr>
            <a:r>
              <a:rPr sz="1800" b="1">
                <a:solidFill>
                  <a:srgbClr val="0F291E"/>
                </a:solidFill>
                <a:latin typeface="Inter"/>
              </a:rPr>
              <a:t>Safety Governance: </a:t>
            </a:r>
            <a:r>
              <a:rPr sz="1600">
                <a:solidFill>
                  <a:srgbClr val="335446"/>
                </a:solidFill>
                <a:latin typeface="Inter"/>
              </a:rPr>
              <a:t>Validates abstention accuracy so missed detections never imply a safe environment.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0" y="201168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335446"/>
                </a:solidFill>
                <a:latin typeface="Inter"/>
              </a:rPr>
              <a:t>Slide 9  |  Literature: Naresh 2024, Najm 2025, Bolon 2022 (different datasets) vs. our Milestone 5 targets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560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>
                <a:solidFill>
                  <a:srgbClr val="F0FDF4"/>
                </a:solidFill>
                <a:latin typeface="Inter Display"/>
              </a:rPr>
              <a:t>Team Review and Acknowledgment</a:t>
            </a:r>
          </a:p>
          <a:p>
            <a:pPr algn="l"/>
            <a:r>
              <a:rPr sz="1700">
                <a:solidFill>
                  <a:srgbClr val="6EE7B7"/>
                </a:solidFill>
                <a:latin typeface="Inter"/>
              </a:rPr>
              <a:t>By signing, each member confirms they have reviewed this presentation, understand it, and agree with the submission.</a:t>
            </a:r>
          </a:p>
          <a:p>
            <a:pPr algn="l"/>
            <a:r>
              <a:rPr sz="1700">
                <a:solidFill>
                  <a:srgbClr val="6EE7B7"/>
                </a:solidFill>
                <a:latin typeface="Inter"/>
              </a:rPr>
              <a:t>Jayesh Bansal (24f100185):  signature ____________   date ________</a:t>
            </a:r>
          </a:p>
          <a:p>
            <a:pPr algn="l"/>
            <a:r>
              <a:rPr sz="1700">
                <a:solidFill>
                  <a:srgbClr val="6EE7B7"/>
                </a:solidFill>
                <a:latin typeface="Inter"/>
              </a:rPr>
              <a:t>Vikas (23f3001800):  signature ____________   date ________</a:t>
            </a:r>
          </a:p>
          <a:p>
            <a:pPr algn="l"/>
            <a:r>
              <a:rPr sz="1700">
                <a:solidFill>
                  <a:srgbClr val="6EE7B7"/>
                </a:solidFill>
                <a:latin typeface="Inter"/>
              </a:rPr>
              <a:t>Puneet Bajaj (23f3002416):  Puneet Bajaj   22/10/2026</a:t>
            </a:r>
          </a:p>
          <a:p>
            <a:pPr algn="l"/>
            <a:r>
              <a:rPr sz="1700">
                <a:solidFill>
                  <a:srgbClr val="6EE7B7"/>
                </a:solidFill>
                <a:latin typeface="Inter"/>
              </a:rPr>
              <a:t>Manas Rastogi:  signature ____________   date 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